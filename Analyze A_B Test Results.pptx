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Open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046387-E105-4955-BF62-A164DF4FF2ED}">
  <a:tblStyle styleId="{6C046387-E105-4955-BF62-A164DF4FF2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OpenSans-regular.fntdata"/><Relationship Id="rId14" Type="http://schemas.openxmlformats.org/officeDocument/2006/relationships/font" Target="fonts/OpenSans-bold.fntdata"/><Relationship Id="rId15" Type="http://schemas.openxmlformats.org/officeDocument/2006/relationships/font" Target="fonts/OpenSans-italic.fntdata"/><Relationship Id="rId16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f18ce3f467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1f18ce3f467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f18ce3f46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f18ce3f46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18ce3f46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f18ce3f46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f18ce3f46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f18ce3f46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8ce3f46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8ce3f46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536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200" y="2195513"/>
            <a:ext cx="5038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8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 lnSpcReduction="20000"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7536" l="0" r="7800" t="0"/>
          <a:stretch/>
        </p:blipFill>
        <p:spPr>
          <a:xfrm>
            <a:off x="6579650" y="2571750"/>
            <a:ext cx="25644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8890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177800" lvl="2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254000" lvl="3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342900" lvl="4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431800" lvl="5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520700" lvl="6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596900" lvl="7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685800" lvl="8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  <a:defRPr b="0" i="0" sz="4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2195513"/>
            <a:ext cx="50388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8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24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9CBDD8"/>
              </a:buClr>
              <a:buSzPts val="1400"/>
              <a:buFont typeface="Open Sans"/>
              <a:buNone/>
              <a:defRPr b="0" i="0" sz="1800" u="none" cap="none" strike="noStrike">
                <a:solidFill>
                  <a:srgbClr val="9CBDD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892578" y="4953000"/>
            <a:ext cx="14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 lnSpcReduction="20000"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Font typeface="Open Sans"/>
              <a:buNone/>
              <a:defRPr b="0" i="0" sz="700" u="none" cap="none" strike="noStrike">
                <a:solidFill>
                  <a:srgbClr val="92929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Instructor Kick-off</a:t>
            </a:r>
            <a:endParaRPr sz="500"/>
          </a:p>
        </p:txBody>
      </p:sp>
      <p:sp>
        <p:nvSpPr>
          <p:cNvPr id="70" name="Google Shape;70;p16"/>
          <p:cNvSpPr txBox="1"/>
          <p:nvPr>
            <p:ph idx="4294967295" type="body"/>
          </p:nvPr>
        </p:nvSpPr>
        <p:spPr>
          <a:xfrm>
            <a:off x="457200" y="4914900"/>
            <a:ext cx="39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97AD"/>
              </a:buClr>
              <a:buFont typeface="Open Sans"/>
              <a:buNone/>
            </a:pP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201</a:t>
            </a:r>
            <a:r>
              <a:rPr lang="en" sz="700"/>
              <a:t>9</a:t>
            </a:r>
            <a:r>
              <a:rPr b="0" i="0" lang="en" sz="700" u="none" cap="none" strike="noStrike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 Udacity.  All rights reserved.</a:t>
            </a:r>
            <a:endParaRPr sz="500"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61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457200" y="834727"/>
            <a:ext cx="8229600" cy="13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Analyze A/B Test Results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" y="2743200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6ED"/>
                </a:solidFill>
              </a:defRPr>
            </a:pPr>
            <a:r>
              <a:t>Maximus Walker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118100" y="1020700"/>
            <a:ext cx="9076500" cy="153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defRPr sz="1900" b="1">
                <a:solidFill>
                  <a:srgbClr val="2D2D2D"/>
                </a:solidFill>
              </a:defRPr>
            </a:pPr>
            <a:r>
              <a:t>Total Variant Visitors: 35,211</a:t>
            </a:r>
          </a:p>
          <a:p>
            <a:pPr>
              <a:defRPr sz="1900" b="1">
                <a:solidFill>
                  <a:srgbClr val="2D2D2D"/>
                </a:solidFill>
              </a:defRPr>
            </a:pPr>
            <a:r>
              <a:t>Total Control Participants: 34,678</a:t>
            </a:r>
          </a:p>
        </p:txBody>
      </p:sp>
      <p:sp>
        <p:nvSpPr>
          <p:cNvPr id="78" name="Google Shape;78;p17"/>
          <p:cNvSpPr txBox="1"/>
          <p:nvPr/>
        </p:nvSpPr>
        <p:spPr>
          <a:xfrm>
            <a:off x="84350" y="194000"/>
            <a:ext cx="914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073763"/>
                </a:solidFill>
                <a:highlight>
                  <a:schemeClr val="lt1"/>
                </a:highlight>
              </a:rPr>
              <a:t>How Was The Experiment Implemented?​</a:t>
            </a:r>
            <a:endParaRPr b="1" sz="1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pic>
        <p:nvPicPr>
          <p:cNvPr id="79" name="Picture 78" descr="country_visi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057400"/>
            <a:ext cx="5212080" cy="2550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84350" y="194000"/>
            <a:ext cx="914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073763"/>
                </a:solidFill>
                <a:highlight>
                  <a:schemeClr val="lt1"/>
                </a:highlight>
              </a:rPr>
              <a:t>Conversion Rates</a:t>
            </a:r>
            <a:endParaRPr b="1" sz="1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85" name="Google Shape;85;p18"/>
          <p:cNvGraphicFramePr/>
          <p:nvPr/>
        </p:nvGraphicFramePr>
        <p:xfrm>
          <a:off x="825950" y="112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{6C046387-E105-4955-BF62-A164DF4FF2ED}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t/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rPr b="1" lang="en" sz="1500"/>
                        <a:t>U.S.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rPr b="1" lang="en" sz="1500"/>
                        <a:t>U.K.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rPr b="1" lang="en" sz="1500"/>
                        <a:t>CA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rPr b="1" lang="en" sz="1500"/>
                        <a:t>Control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10.73%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10.16%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9.45%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200" b="1"/>
                      </a:pPr>
                      <a:r>
                        <a:rPr b="1" lang="en" sz="1500"/>
                        <a:t>Treatment</a:t>
                      </a:r>
                      <a:endParaRPr b="1" sz="1500"/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15.78%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14.87%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15.40%</a:t>
                      </a: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18"/>
          <p:cNvSpPr txBox="1"/>
          <p:nvPr/>
        </p:nvSpPr>
        <p:spPr>
          <a:xfrm>
            <a:off x="481400" y="2817975"/>
            <a:ext cx="8207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defRPr sz="1600">
                <a:solidFill>
                  <a:srgbClr val="2D2D2D"/>
                </a:solidFill>
              </a:defRPr>
            </a:pPr>
            <a:r>
              <a:t>Executive Summary: Treatment users converted at a higher rate in the U.S., U.K., and Canada. After controlling for treatment, country was not statistically significant (UK p=0.905; US p=0.170, Canada baseline). Treatment-by-country interactions were also not significant, so the treatment advantage is broadly consistent across countries.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84350" y="194000"/>
            <a:ext cx="914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073763"/>
                </a:solidFill>
                <a:highlight>
                  <a:schemeClr val="lt1"/>
                </a:highlight>
              </a:rPr>
              <a:t>Experiment Results</a:t>
            </a:r>
            <a:endParaRPr b="1" sz="1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118100" y="1020700"/>
            <a:ext cx="9076500" cy="22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t>Treatment Conversion Rate: 15.53%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Control Conversion Rate: 10.53%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Delta in Treatment vs. Control Conversion Rate: +5.01 percentage points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z statistic: 19.647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p-value (one-sided): 3.052e-86</a:t>
            </a:r>
          </a:p>
          <a:p>
            <a:pPr>
              <a:defRPr sz="1600" b="1">
                <a:solidFill>
                  <a:srgbClr val="2D2D2D"/>
                </a:solidFill>
              </a:defRPr>
            </a:pPr>
          </a:p>
          <a:p>
            <a:pPr>
              <a:defRPr sz="1600">
                <a:solidFill>
                  <a:srgbClr val="2D2D2D"/>
                </a:solidFill>
              </a:defRPr>
            </a:pPr>
            <a:r>
              <a:t>Conclusion: The treatment page has a statistically significant higher conversion rate than the control page. The estimated lift is also practically meaningful in this experiment, so the evidence supports implementing the treatment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84350" y="194000"/>
            <a:ext cx="914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50">
                <a:solidFill>
                  <a:srgbClr val="073763"/>
                </a:solidFill>
                <a:highlight>
                  <a:schemeClr val="lt1"/>
                </a:highlight>
              </a:rPr>
              <a:t>Country Results</a:t>
            </a:r>
            <a:endParaRPr b="1" sz="100">
              <a:solidFill>
                <a:srgbClr val="073763"/>
              </a:solidFill>
              <a:highlight>
                <a:schemeClr val="lt1"/>
              </a:highlight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118100" y="1020700"/>
            <a:ext cx="9076500" cy="82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>
              <a:defRPr sz="1700" b="1">
                <a:solidFill>
                  <a:srgbClr val="2D2D2D"/>
                </a:solidFill>
              </a:defRPr>
            </a:pPr>
            <a:r>
              <a:t>Country main effects (Canada baseline):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UK p-value = 0.9048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US p-value = 0.1701</a:t>
            </a:r>
          </a:p>
          <a:p>
            <a:pPr>
              <a:defRPr sz="1700">
                <a:solidFill>
                  <a:srgbClr val="2D2D2D"/>
                </a:solidFill>
              </a:defRPr>
            </a:pPr>
          </a:p>
          <a:p>
            <a:pPr>
              <a:defRPr sz="1700" b="1">
                <a:solidFill>
                  <a:srgbClr val="2D2D2D"/>
                </a:solidFill>
              </a:defRPr>
            </a:pPr>
            <a:r>
              <a:t>Treatment-by-country interactions: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Treatment × UK p-value = 0.2887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• Treatment × US p-value = 0.3001</a:t>
            </a:r>
          </a:p>
          <a:p>
            <a:pPr>
              <a:defRPr sz="1700">
                <a:solidFill>
                  <a:srgbClr val="2D2D2D"/>
                </a:solidFill>
              </a:defRPr>
            </a:pPr>
          </a:p>
          <a:p>
            <a:pPr>
              <a:defRPr sz="1700" b="1">
                <a:solidFill>
                  <a:srgbClr val="2D2D2D"/>
                </a:solidFill>
              </a:defRPr>
            </a:pPr>
            <a:r>
              <a:t>Conclusion: There is no statistically significant evidence that country independently changes conversion or that the treatment effect differs by country. The treatment effect remains the primary statistically significant predictor of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